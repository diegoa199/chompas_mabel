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77724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800">
                <a:solidFill>
                  <a:srgbClr val="FFFFFF"/>
                </a:solidFill>
              </a:defRPr>
            </a:pPr>
            <a:r>
              <a:t>Chompas Mabel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233172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E6EB"/>
                </a:solidFill>
              </a:defRPr>
            </a:pPr>
            <a:r>
              <a:t>Sistema Web de Gestión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246120"/>
            <a:ext cx="71323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</a:defRPr>
            </a:pPr>
            <a:r>
              <a:t>Angular 21 + Spring Boot + MySQL + Docker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</a:defRPr>
            </a:pPr>
            <a:r>
              <a:t>Ingeniería Web - 2026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</a:defRPr>
            </a:pPr>
            <a:r>
              <a:t>Presentado por: Diego Gabriel</a:t>
            </a:r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960120"/>
            <a:ext cx="4114800" cy="231580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D90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6294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11827"/>
                </a:solidFill>
              </a:defRPr>
            </a:pPr>
            <a:r>
              <a:t>Problema y oportunidad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</a:defRPr>
            </a:pPr>
            <a:r>
              <a:t>Gestión centralizada para una empresa de chompas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429000" cy="1325880"/>
          </a:xfrm>
          <a:prstGeom prst="roundRect">
            <a:avLst/>
          </a:prstGeom>
          <a:solidFill>
            <a:srgbClr val="F6F7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54480"/>
            <a:ext cx="3099816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D90429"/>
                </a:solidFill>
              </a:defRPr>
            </a:pPr>
            <a:r>
              <a:t>Problema</a:t>
            </a:r>
          </a:p>
          <a:p>
            <a:pPr>
              <a:defRPr sz="1200">
                <a:solidFill>
                  <a:srgbClr val="111827"/>
                </a:solidFill>
              </a:defRPr>
            </a:pPr>
            <a:r>
              <a:t>Registros manuales generan errores de stock, seguimiento limitado y poca trazabilidad.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429000" cy="1325880"/>
          </a:xfrm>
          <a:prstGeom prst="roundRect">
            <a:avLst/>
          </a:prstGeom>
          <a:solidFill>
            <a:srgbClr val="F6F7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554480"/>
            <a:ext cx="3099816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D90429"/>
                </a:solidFill>
              </a:defRPr>
            </a:pPr>
            <a:r>
              <a:t>Necesidad</a:t>
            </a:r>
          </a:p>
          <a:p>
            <a:pPr>
              <a:defRPr sz="1200">
                <a:solidFill>
                  <a:srgbClr val="111827"/>
                </a:solidFill>
              </a:defRPr>
            </a:pPr>
            <a:r>
              <a:t>Controlar productos, clientes, pedidos, ventas e inventario desde una sola plataforma.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417320"/>
            <a:ext cx="3429000" cy="1325880"/>
          </a:xfrm>
          <a:prstGeom prst="roundRect">
            <a:avLst/>
          </a:prstGeom>
          <a:solidFill>
            <a:srgbClr val="F6F7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1" y="1554480"/>
            <a:ext cx="3099816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D90429"/>
                </a:solidFill>
              </a:defRPr>
            </a:pPr>
            <a:r>
              <a:t>Solución</a:t>
            </a:r>
          </a:p>
          <a:p>
            <a:pPr>
              <a:defRPr sz="1200">
                <a:solidFill>
                  <a:srgbClr val="111827"/>
                </a:solidFill>
              </a:defRPr>
            </a:pPr>
            <a:r>
              <a:t>Aplicación web real con API REST, validaciones, base relacional y datos iniciales.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98755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11827"/>
                </a:solidFill>
              </a:defRPr>
            </a:pPr>
            <a:r>
              <a:t>El sistema reduce tareas repetitivas.</a:t>
            </a:r>
          </a:p>
          <a:p>
            <a:pPr>
              <a:spcAft>
                <a:spcPts val="800"/>
              </a:spcAft>
              <a:defRPr sz="1900">
                <a:solidFill>
                  <a:srgbClr val="111827"/>
                </a:solidFill>
              </a:defRPr>
            </a:pPr>
            <a:r>
              <a:t>Permite consulta rápida de indicadores.</a:t>
            </a:r>
          </a:p>
          <a:p>
            <a:pPr>
              <a:spcAft>
                <a:spcPts val="800"/>
              </a:spcAft>
              <a:defRPr sz="1900">
                <a:solidFill>
                  <a:srgbClr val="111827"/>
                </a:solidFill>
              </a:defRPr>
            </a:pPr>
            <a:r>
              <a:t>Facilita una sustentación técnica completa.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D90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0" y="66294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11827"/>
                </a:solidFill>
              </a:defRPr>
            </a:pPr>
            <a: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</a:defRPr>
            </a:pPr>
            <a:r>
              <a:t>Qué busca resolver el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11827"/>
                </a:solidFill>
              </a:defRPr>
            </a:pPr>
            <a:r>
              <a:t>Objetivo general: desarrollar un sistema web de gestión para Chompas Mabel.</a:t>
            </a:r>
          </a:p>
          <a:p>
            <a:pPr>
              <a:spcAft>
                <a:spcPts val="800"/>
              </a:spcAft>
              <a:defRPr sz="2100">
                <a:solidFill>
                  <a:srgbClr val="111827"/>
                </a:solidFill>
              </a:defRPr>
            </a:pPr>
            <a:r>
              <a:t>Implementar frontend responsive con Angular, Bootstrap, signals y formularios reactivos.</a:t>
            </a:r>
          </a:p>
          <a:p>
            <a:pPr>
              <a:spcAft>
                <a:spcPts val="800"/>
              </a:spcAft>
              <a:defRPr sz="2100">
                <a:solidFill>
                  <a:srgbClr val="111827"/>
                </a:solidFill>
              </a:defRPr>
            </a:pPr>
            <a:r>
              <a:t>Construir API REST con Spring Boot, JPA, servicios, repositorios y validaciones.</a:t>
            </a:r>
          </a:p>
          <a:p>
            <a:pPr>
              <a:spcAft>
                <a:spcPts val="800"/>
              </a:spcAft>
              <a:defRPr sz="2100">
                <a:solidFill>
                  <a:srgbClr val="111827"/>
                </a:solidFill>
              </a:defRPr>
            </a:pPr>
            <a:r>
              <a:t>Diseñar base MySQL normalizada con relaciones y datos iniciales.</a:t>
            </a:r>
          </a:p>
          <a:p>
            <a:pPr>
              <a:spcAft>
                <a:spcPts val="800"/>
              </a:spcAft>
              <a:defRPr sz="2100">
                <a:solidFill>
                  <a:srgbClr val="111827"/>
                </a:solidFill>
              </a:defRPr>
            </a:pPr>
            <a:r>
              <a:t>Preparar ejecución reproducible con Docker Compose y GitHub.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D90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6294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11827"/>
                </a:solidFill>
              </a:defRPr>
            </a:pPr>
            <a:r>
              <a:t>Módulos implementados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</a:defRPr>
            </a:pPr>
            <a:r>
              <a:t>Cobertura funcional del sistema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560320" cy="1143000"/>
          </a:xfrm>
          <a:prstGeom prst="roundRect">
            <a:avLst/>
          </a:prstGeom>
          <a:solidFill>
            <a:srgbClr val="F6F7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54480"/>
            <a:ext cx="223113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D90429"/>
                </a:solidFill>
              </a:defRPr>
            </a:pPr>
            <a:r>
              <a:t>Login</a:t>
            </a:r>
          </a:p>
          <a:p>
            <a:pPr>
              <a:defRPr sz="1200">
                <a:solidFill>
                  <a:srgbClr val="111827"/>
                </a:solidFill>
              </a:defRPr>
            </a:pPr>
            <a:r>
              <a:t>Acceso demo por roles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520440" y="1417320"/>
            <a:ext cx="2560320" cy="1143000"/>
          </a:xfrm>
          <a:prstGeom prst="roundRect">
            <a:avLst/>
          </a:prstGeom>
          <a:solidFill>
            <a:srgbClr val="F6F7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85032" y="1554480"/>
            <a:ext cx="223113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D90429"/>
                </a:solidFill>
              </a:defRPr>
            </a:pPr>
            <a:r>
              <a:t>Dashboard</a:t>
            </a:r>
          </a:p>
          <a:p>
            <a:pPr>
              <a:defRPr sz="1200">
                <a:solidFill>
                  <a:srgbClr val="111827"/>
                </a:solidFill>
              </a:defRPr>
            </a:pPr>
            <a:r>
              <a:t>Indicadores operativos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417320"/>
            <a:ext cx="2560320" cy="1143000"/>
          </a:xfrm>
          <a:prstGeom prst="roundRect">
            <a:avLst/>
          </a:prstGeom>
          <a:solidFill>
            <a:srgbClr val="F6F7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1554480"/>
            <a:ext cx="223113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D90429"/>
                </a:solidFill>
              </a:defRPr>
            </a:pPr>
            <a:r>
              <a:t>Productos</a:t>
            </a:r>
          </a:p>
          <a:p>
            <a:pPr>
              <a:defRPr sz="1200">
                <a:solidFill>
                  <a:srgbClr val="111827"/>
                </a:solidFill>
              </a:defRPr>
            </a:pPr>
            <a:r>
              <a:t>CRUD y catálogo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9720" y="1417320"/>
            <a:ext cx="2560320" cy="1143000"/>
          </a:xfrm>
          <a:prstGeom prst="roundRect">
            <a:avLst/>
          </a:prstGeom>
          <a:solidFill>
            <a:srgbClr val="F6F7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54312" y="1554480"/>
            <a:ext cx="223113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D90429"/>
                </a:solidFill>
              </a:defRPr>
            </a:pPr>
            <a:r>
              <a:t>Inventario</a:t>
            </a:r>
          </a:p>
          <a:p>
            <a:pPr>
              <a:defRPr sz="1200">
                <a:solidFill>
                  <a:srgbClr val="111827"/>
                </a:solidFill>
              </a:defRPr>
            </a:pPr>
            <a:r>
              <a:t>Stock y valorización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017520"/>
            <a:ext cx="2560320" cy="1143000"/>
          </a:xfrm>
          <a:prstGeom prst="roundRect">
            <a:avLst/>
          </a:prstGeom>
          <a:solidFill>
            <a:srgbClr val="F6F7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" y="3154679"/>
            <a:ext cx="223113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D90429"/>
                </a:solidFill>
              </a:defRPr>
            </a:pPr>
            <a:r>
              <a:t>Clientes</a:t>
            </a:r>
          </a:p>
          <a:p>
            <a:pPr>
              <a:defRPr sz="1200">
                <a:solidFill>
                  <a:srgbClr val="111827"/>
                </a:solidFill>
              </a:defRPr>
            </a:pPr>
            <a:r>
              <a:t>Registro comercial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3017520"/>
            <a:ext cx="2560320" cy="1143000"/>
          </a:xfrm>
          <a:prstGeom prst="roundRect">
            <a:avLst/>
          </a:prstGeom>
          <a:solidFill>
            <a:srgbClr val="F6F7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3154679"/>
            <a:ext cx="223113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D90429"/>
                </a:solidFill>
              </a:defRPr>
            </a:pPr>
            <a:r>
              <a:t>Pedidos</a:t>
            </a:r>
          </a:p>
          <a:p>
            <a:pPr>
              <a:defRPr sz="1200">
                <a:solidFill>
                  <a:srgbClr val="111827"/>
                </a:solidFill>
              </a:defRPr>
            </a:pPr>
            <a:r>
              <a:t>Detalles y estados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017520"/>
            <a:ext cx="2560320" cy="1143000"/>
          </a:xfrm>
          <a:prstGeom prst="roundRect">
            <a:avLst/>
          </a:prstGeom>
          <a:solidFill>
            <a:srgbClr val="F6F7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3154679"/>
            <a:ext cx="223113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D90429"/>
                </a:solidFill>
              </a:defRPr>
            </a:pPr>
            <a:r>
              <a:t>Ventas</a:t>
            </a:r>
          </a:p>
          <a:p>
            <a:pPr>
              <a:defRPr sz="1200">
                <a:solidFill>
                  <a:srgbClr val="111827"/>
                </a:solidFill>
              </a:defRPr>
            </a:pPr>
            <a:r>
              <a:t>Venta vinculada al pedido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3017520"/>
            <a:ext cx="2560320" cy="1143000"/>
          </a:xfrm>
          <a:prstGeom prst="roundRect">
            <a:avLst/>
          </a:prstGeom>
          <a:solidFill>
            <a:srgbClr val="F6F7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54312" y="3154679"/>
            <a:ext cx="223113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D90429"/>
                </a:solidFill>
              </a:defRPr>
            </a:pPr>
            <a:r>
              <a:t>Reportes</a:t>
            </a:r>
          </a:p>
          <a:p>
            <a:pPr>
              <a:defRPr sz="1200">
                <a:solidFill>
                  <a:srgbClr val="111827"/>
                </a:solidFill>
              </a:defRPr>
            </a:pPr>
            <a:r>
              <a:t>Indicadores del negocio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D90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81360" y="66294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11827"/>
                </a:solidFill>
              </a:defRPr>
            </a:pPr>
            <a:r>
              <a:t>Arquitectura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</a:defRPr>
            </a:pPr>
            <a:r>
              <a:t>Cliente-servidor en capas</a:t>
            </a:r>
          </a:p>
        </p:txBody>
      </p:sp>
      <p:pic>
        <p:nvPicPr>
          <p:cNvPr id="5" name="Picture 4" descr="arquitectura_softw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6583680" cy="37052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35240" y="1508760"/>
            <a:ext cx="393192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11827"/>
                </a:solidFill>
              </a:defRPr>
            </a:pPr>
            <a:r>
              <a:t>Angular consume endpoints REST.</a:t>
            </a:r>
          </a:p>
          <a:p>
            <a:pPr>
              <a:spcAft>
                <a:spcPts val="800"/>
              </a:spcAft>
              <a:defRPr sz="1900">
                <a:solidFill>
                  <a:srgbClr val="111827"/>
                </a:solidFill>
              </a:defRPr>
            </a:pPr>
            <a:r>
              <a:t>Spring Boot concentra reglas de negocio.</a:t>
            </a:r>
          </a:p>
          <a:p>
            <a:pPr>
              <a:spcAft>
                <a:spcPts val="800"/>
              </a:spcAft>
              <a:defRPr sz="1900">
                <a:solidFill>
                  <a:srgbClr val="111827"/>
                </a:solidFill>
              </a:defRPr>
            </a:pPr>
            <a:r>
              <a:t>JPA/Hibernate gestiona persistencia.</a:t>
            </a:r>
          </a:p>
          <a:p>
            <a:pPr>
              <a:spcAft>
                <a:spcPts val="800"/>
              </a:spcAft>
              <a:defRPr sz="1900">
                <a:solidFill>
                  <a:srgbClr val="111827"/>
                </a:solidFill>
              </a:defRPr>
            </a:pPr>
            <a:r>
              <a:t>MySQL se levanta con Docker Compose.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D90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6294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11827"/>
                </a:solidFill>
              </a:defRPr>
            </a:pPr>
            <a:r>
              <a:t>Base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</a:defRPr>
            </a:pPr>
            <a:r>
              <a:t>Diseño físico coherente y normalizado</a:t>
            </a:r>
          </a:p>
        </p:txBody>
      </p:sp>
      <p:pic>
        <p:nvPicPr>
          <p:cNvPr id="5" name="Picture 4" descr="modelo_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51560"/>
            <a:ext cx="5577840" cy="41833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29400" y="1234440"/>
            <a:ext cx="493776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</a:defRPr>
            </a:pPr>
            <a:r>
              <a:t>Tablas: usuarios, clientes, categorías, productos, pedidos, detalle_pedido, ventas e inventario_movimientos.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</a:defRPr>
            </a:pPr>
            <a:r>
              <a:t>Relaciónes con claves foráneas.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</a:defRPr>
            </a:pPr>
            <a:r>
              <a:t>Pedido 1 a 1 Venta.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</a:defRPr>
            </a:pPr>
            <a:r>
              <a:t>Producto 1 a N movimientos de inventario.</a:t>
            </a:r>
          </a:p>
          <a:p>
            <a:pPr>
              <a:spcAft>
                <a:spcPts val="800"/>
              </a:spcAft>
              <a:defRPr sz="1700">
                <a:solidFill>
                  <a:srgbClr val="111827"/>
                </a:solidFill>
              </a:defRPr>
            </a:pPr>
            <a:r>
              <a:t>Datos iniciales en schema.sql.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D90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6294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89788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E293B"/>
                </a:solidFill>
              </a:rPr>
              <a:t>Nota: Docker ejecuta MySQL; la base física se sustenta con schema.sql, modelo ER, tablas, PK y FK.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11827"/>
                </a:solidFill>
              </a:defRPr>
            </a:pPr>
            <a:r>
              <a:t>Frontend Angular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</a:defRPr>
            </a:pPr>
            <a:r>
              <a:t>Estructura y criterios de rúbrica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11827"/>
                </a:solidFill>
              </a:defRPr>
            </a:pPr>
            <a:r>
              <a:t>Angular 21 con componentes standalone.</a:t>
            </a:r>
          </a:p>
          <a:p>
            <a:pPr>
              <a:spcAft>
                <a:spcPts val="800"/>
              </a:spcAft>
              <a:defRPr sz="1900">
                <a:solidFill>
                  <a:srgbClr val="111827"/>
                </a:solidFill>
              </a:defRPr>
            </a:pPr>
            <a:r>
              <a:t>Routing centralizado en app.routes.ts.</a:t>
            </a:r>
          </a:p>
          <a:p>
            <a:pPr>
              <a:spcAft>
                <a:spcPts val="800"/>
              </a:spcAft>
              <a:defRPr sz="1900">
                <a:solidFill>
                  <a:srgbClr val="111827"/>
                </a:solidFill>
              </a:defRPr>
            </a:pPr>
            <a:r>
              <a:t>Servicios HTTP para productos, clientes, pedidos y login.</a:t>
            </a:r>
          </a:p>
          <a:p>
            <a:pPr>
              <a:spcAft>
                <a:spcPts val="800"/>
              </a:spcAft>
              <a:defRPr sz="1900">
                <a:solidFill>
                  <a:srgbClr val="111827"/>
                </a:solidFill>
              </a:defRPr>
            </a:pPr>
            <a:r>
              <a:t>Signals y computed values para estado reactivo.</a:t>
            </a:r>
          </a:p>
          <a:p>
            <a:pPr>
              <a:spcAft>
                <a:spcPts val="800"/>
              </a:spcAft>
              <a:defRPr sz="1900">
                <a:solidFill>
                  <a:srgbClr val="111827"/>
                </a:solidFill>
              </a:defRPr>
            </a:pPr>
            <a:r>
              <a:t>Reactive Forms con validaciones.</a:t>
            </a:r>
          </a:p>
          <a:p>
            <a:pPr>
              <a:spcAft>
                <a:spcPts val="800"/>
              </a:spcAft>
              <a:defRPr sz="1900">
                <a:solidFill>
                  <a:srgbClr val="111827"/>
                </a:solidFill>
              </a:defRPr>
            </a:pPr>
            <a:r>
              <a:t>Bootstrap 5 y CSS propio responsive.</a:t>
            </a:r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25880"/>
            <a:ext cx="4937760" cy="277896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D90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6294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11827"/>
                </a:solidFill>
              </a:defRPr>
            </a:pPr>
            <a:r>
              <a:t>Backend Spring Boot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</a:defRPr>
            </a:pPr>
            <a:r>
              <a:t>API REST y reglas de negocio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5303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11827"/>
                </a:solidFill>
              </a:defRPr>
            </a:pPr>
            <a:r>
              <a:t>Java 21 + Spring Boot 3.</a:t>
            </a:r>
          </a:p>
          <a:p>
            <a:pPr>
              <a:spcAft>
                <a:spcPts val="800"/>
              </a:spcAft>
              <a:defRPr sz="1900">
                <a:solidFill>
                  <a:srgbClr val="111827"/>
                </a:solidFill>
              </a:defRPr>
            </a:pPr>
            <a:r>
              <a:t>Controladores REST para productos, clientes, pedidos y auth.</a:t>
            </a:r>
          </a:p>
          <a:p>
            <a:pPr>
              <a:spcAft>
                <a:spcPts val="800"/>
              </a:spcAft>
              <a:defRPr sz="1900">
                <a:solidFill>
                  <a:srgbClr val="111827"/>
                </a:solidFill>
              </a:defRPr>
            </a:pPr>
            <a:r>
              <a:t>DTOs para requests/responses.</a:t>
            </a:r>
          </a:p>
          <a:p>
            <a:pPr>
              <a:spcAft>
                <a:spcPts val="800"/>
              </a:spcAft>
              <a:defRPr sz="1900">
                <a:solidFill>
                  <a:srgbClr val="111827"/>
                </a:solidFill>
              </a:defRPr>
            </a:pPr>
            <a:r>
              <a:t>Validaciones con jakarta.validation.</a:t>
            </a:r>
          </a:p>
          <a:p>
            <a:pPr>
              <a:spcAft>
                <a:spcPts val="800"/>
              </a:spcAft>
              <a:defRPr sz="1900">
                <a:solidFill>
                  <a:srgbClr val="111827"/>
                </a:solidFill>
              </a:defRPr>
            </a:pPr>
            <a:r>
              <a:t>Servicios transaccionales.</a:t>
            </a:r>
          </a:p>
          <a:p>
            <a:pPr>
              <a:spcAft>
                <a:spcPts val="800"/>
              </a:spcAft>
              <a:defRPr sz="1900">
                <a:solidFill>
                  <a:srgbClr val="111827"/>
                </a:solidFill>
              </a:defRPr>
            </a:pPr>
            <a:r>
              <a:t>Manejo de errores con ApiExceptionHandler.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417320"/>
            <a:ext cx="4754880" cy="1051560"/>
          </a:xfrm>
          <a:prstGeom prst="roundRect">
            <a:avLst/>
          </a:prstGeom>
          <a:solidFill>
            <a:srgbClr val="F6F7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56831" y="1554480"/>
            <a:ext cx="4425696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D90429"/>
                </a:solidFill>
              </a:defRPr>
            </a:pPr>
            <a:r>
              <a:t>Pedidos</a:t>
            </a:r>
          </a:p>
          <a:p>
            <a:pPr>
              <a:defRPr sz="1200">
                <a:solidFill>
                  <a:srgbClr val="111827"/>
                </a:solidFill>
              </a:defRPr>
            </a:pPr>
            <a:r>
              <a:t>Calcula total y subtotales.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697480"/>
            <a:ext cx="4754880" cy="1051560"/>
          </a:xfrm>
          <a:prstGeom prst="roundRect">
            <a:avLst/>
          </a:prstGeom>
          <a:solidFill>
            <a:srgbClr val="F6F7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56831" y="2834640"/>
            <a:ext cx="4425696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D90429"/>
                </a:solidFill>
              </a:defRPr>
            </a:pPr>
            <a:r>
              <a:t>Inventario</a:t>
            </a:r>
          </a:p>
          <a:p>
            <a:pPr>
              <a:defRPr sz="1200">
                <a:solidFill>
                  <a:srgbClr val="111827"/>
                </a:solidFill>
              </a:defRPr>
            </a:pPr>
            <a:r>
              <a:t>Descuenta stock y registra salidas.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3977639"/>
            <a:ext cx="4754880" cy="1051560"/>
          </a:xfrm>
          <a:prstGeom prst="roundRect">
            <a:avLst/>
          </a:prstGeom>
          <a:solidFill>
            <a:srgbClr val="F6F7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6831" y="4114800"/>
            <a:ext cx="4425696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D90429"/>
                </a:solidFill>
              </a:defRPr>
            </a:pPr>
            <a:r>
              <a:t>Ventas</a:t>
            </a:r>
          </a:p>
          <a:p>
            <a:pPr>
              <a:defRPr sz="1200">
                <a:solidFill>
                  <a:srgbClr val="111827"/>
                </a:solidFill>
              </a:defRPr>
            </a:pPr>
            <a:r>
              <a:t>Genera venta para pedidos confirmados.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D90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0" y="66294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11827"/>
                </a:solidFill>
              </a:defRPr>
            </a:pPr>
            <a:r>
              <a:t>Pantallas principales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</a:defRPr>
            </a:pPr>
            <a:r>
              <a:t>Evidencia visual de la aplicación</a:t>
            </a:r>
          </a:p>
        </p:txBody>
      </p:sp>
      <p:pic>
        <p:nvPicPr>
          <p:cNvPr id="5" name="Picture 4" descr="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303520" cy="2984816"/>
          </a:xfrm>
          <a:prstGeom prst="rect">
            <a:avLst/>
          </a:prstGeom>
        </p:spPr>
      </p:pic>
      <p:pic>
        <p:nvPicPr>
          <p:cNvPr id="6" name="Picture 5" descr="productos_inventar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143000"/>
            <a:ext cx="5303520" cy="298481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D90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6294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11827"/>
                </a:solidFill>
              </a:defRPr>
            </a:pPr>
            <a:r>
              <a:t>Pedidos, ventas y reportes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</a:defRPr>
            </a:pPr>
            <a:r>
              <a:t>Flujo operativo</a:t>
            </a:r>
          </a:p>
        </p:txBody>
      </p:sp>
      <p:pic>
        <p:nvPicPr>
          <p:cNvPr id="5" name="Picture 4" descr="pedidos_vent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5577840" cy="313920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20840" y="1325880"/>
            <a:ext cx="466344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t>Cliente selecciona producto y cantidad.</a:t>
            </a:r>
          </a:p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t>Backend valida stock disponible.</a:t>
            </a:r>
          </a:p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t>Se descuenta inventario.</a:t>
            </a:r>
          </a:p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t>Se registra movimiento de salida.</a:t>
            </a:r>
          </a:p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t>Si el estado aplica, se genera venta.</a:t>
            </a:r>
          </a:p>
          <a:p>
            <a:pPr>
              <a:spcAft>
                <a:spcPts val="800"/>
              </a:spcAft>
              <a:defRPr sz="1800">
                <a:solidFill>
                  <a:srgbClr val="111827"/>
                </a:solidFill>
              </a:defRPr>
            </a:pPr>
            <a:r>
              <a:t>Reportes muestran ventas e inventario.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D90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6294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11827"/>
                </a:solidFill>
              </a:defRPr>
            </a:pPr>
            <a:r>
              <a:t>Validaciones y calidad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</a:defRPr>
            </a:pPr>
            <a:r>
              <a:t>Controles solicitados en frontend y backend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3383280" cy="1143000"/>
          </a:xfrm>
          <a:prstGeom prst="roundRect">
            <a:avLst/>
          </a:prstGeom>
          <a:solidFill>
            <a:srgbClr val="F6F7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463039"/>
            <a:ext cx="305409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D90429"/>
                </a:solidFill>
              </a:defRPr>
            </a:pPr>
            <a:r>
              <a:t>Angular</a:t>
            </a:r>
          </a:p>
          <a:p>
            <a:pPr>
              <a:defRPr sz="1200">
                <a:solidFill>
                  <a:srgbClr val="111827"/>
                </a:solidFill>
              </a:defRPr>
            </a:pPr>
            <a:r>
              <a:t>Campos obligatorios, correo válido, precio y stock &gt;= 0, nombre mínimo.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1325880"/>
            <a:ext cx="3383280" cy="1143000"/>
          </a:xfrm>
          <a:prstGeom prst="roundRect">
            <a:avLst/>
          </a:prstGeom>
          <a:solidFill>
            <a:srgbClr val="F6F7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1" y="1463039"/>
            <a:ext cx="305409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D90429"/>
                </a:solidFill>
              </a:defRPr>
            </a:pPr>
            <a:r>
              <a:t>Spring Boot</a:t>
            </a:r>
          </a:p>
          <a:p>
            <a:pPr>
              <a:defRPr sz="1200">
                <a:solidFill>
                  <a:srgbClr val="111827"/>
                </a:solidFill>
              </a:defRPr>
            </a:pPr>
            <a:r>
              <a:t>jakarta.validation en DTOs y entidades.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325880"/>
            <a:ext cx="3383280" cy="1143000"/>
          </a:xfrm>
          <a:prstGeom prst="roundRect">
            <a:avLst/>
          </a:prstGeom>
          <a:solidFill>
            <a:srgbClr val="F6F7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57031" y="1463039"/>
            <a:ext cx="3054096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D90429"/>
                </a:solidFill>
              </a:defRPr>
            </a:pPr>
            <a:r>
              <a:t>Base de datos</a:t>
            </a:r>
          </a:p>
          <a:p>
            <a:pPr>
              <a:defRPr sz="1200">
                <a:solidFill>
                  <a:srgbClr val="111827"/>
                </a:solidFill>
              </a:defRPr>
            </a:pPr>
            <a:r>
              <a:t>CHECK, PK, FK, UNIQUE e integridad referencial.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08960"/>
            <a:ext cx="98755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</a:defRPr>
            </a:pPr>
            <a:r>
              <a:t>npm run build compiló correctamente.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</a:defRPr>
            </a:pPr>
            <a:r>
              <a:t>mvn package compiló correctamente.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</a:defRPr>
            </a:pPr>
            <a:r>
              <a:t>Docker Compose levantó MySQL healthy.</a:t>
            </a:r>
          </a:p>
          <a:p>
            <a:pPr>
              <a:spcAft>
                <a:spcPts val="800"/>
              </a:spcAft>
              <a:defRPr sz="2000">
                <a:solidFill>
                  <a:srgbClr val="111827"/>
                </a:solidFill>
              </a:defRPr>
            </a:pPr>
            <a:r>
              <a:t>Endpoints principales respondieron HTTP 200.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D90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881360" y="66294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11827"/>
                </a:solidFill>
              </a:defRPr>
            </a:pPr>
            <a:r>
              <a:t>Replicación del 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</a:defRPr>
            </a:pPr>
            <a:r>
              <a:t>Cómo ejecutarlo en otra PC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111827"/>
                </a:solidFill>
              </a:defRPr>
            </a:pPr>
            <a:r>
              <a:t>GitHub: https://github.com/DiegoA199/Chompas_Mabel</a:t>
            </a:r>
          </a:p>
          <a:p>
            <a:pPr>
              <a:spcAft>
                <a:spcPts val="800"/>
              </a:spcAft>
              <a:defRPr sz="2100">
                <a:solidFill>
                  <a:srgbClr val="111827"/>
                </a:solidFill>
              </a:defRPr>
            </a:pPr>
            <a:r>
              <a:t>docker compose up -d mysql</a:t>
            </a:r>
          </a:p>
          <a:p>
            <a:pPr>
              <a:spcAft>
                <a:spcPts val="800"/>
              </a:spcAft>
              <a:defRPr sz="2100">
                <a:solidFill>
                  <a:srgbClr val="111827"/>
                </a:solidFill>
              </a:defRPr>
            </a:pPr>
            <a:r>
              <a:t>cd backend-springboot &amp;&amp; mvn spring-boot:run</a:t>
            </a:r>
          </a:p>
          <a:p>
            <a:pPr>
              <a:spcAft>
                <a:spcPts val="800"/>
              </a:spcAft>
              <a:defRPr sz="2100">
                <a:solidFill>
                  <a:srgbClr val="111827"/>
                </a:solidFill>
              </a:defRPr>
            </a:pPr>
            <a:r>
              <a:t>cd frontend-angular &amp;&amp; npm install &amp;&amp; npm start</a:t>
            </a:r>
          </a:p>
          <a:p>
            <a:pPr>
              <a:spcAft>
                <a:spcPts val="800"/>
              </a:spcAft>
              <a:defRPr sz="2100">
                <a:solidFill>
                  <a:srgbClr val="111827"/>
                </a:solidFill>
              </a:defRPr>
            </a:pPr>
            <a:r>
              <a:t>URL local: http://localhost:4200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D90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6294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7680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111827"/>
                </a:solidFill>
              </a:defRPr>
            </a:pPr>
            <a: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41248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280"/>
                </a:solidFill>
              </a:defRPr>
            </a:pPr>
            <a:r>
              <a:t>Resultado de Ingeniería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3327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Sistema funcional y conectado de extremo a extremo.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Frontend Angular modular y responsive.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Backend Spring Boot con API REST y reglas de negocio.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Base MySQL normalizada y cargada con datos iniciales.</a:t>
            </a:r>
          </a:p>
          <a:p>
            <a:pPr>
              <a:spcAft>
                <a:spcPts val="800"/>
              </a:spcAft>
              <a:defRPr sz="2200">
                <a:solidFill>
                  <a:srgbClr val="111827"/>
                </a:solidFill>
              </a:defRPr>
            </a:pPr>
            <a:r>
              <a:t>Repositorio GitHub listo para replicación y sustentación.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D90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6294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574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3246120"/>
            <a:ext cx="9235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E6EB"/>
                </a:solidFill>
              </a:defRPr>
            </a:pPr>
            <a:r>
              <a:t>Preguntas y demostración del sistema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7432"/>
          </a:xfrm>
          <a:prstGeom prst="rect">
            <a:avLst/>
          </a:prstGeom>
          <a:solidFill>
            <a:srgbClr val="D904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629400"/>
            <a:ext cx="914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B7280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430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Patrón de arquitectura</a:t>
            </a:r>
          </a:p>
          <a:p>
            <a:r>
              <a:rPr sz="1300">
                <a:solidFill>
                  <a:srgbClr val="475569"/>
                </a:solidFill>
              </a:rPr>
              <a:t>Arquitectura en capas + MVC/REST para separar responsabilidades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43000"/>
            <a:ext cx="10972800" cy="685800"/>
          </a:xfrm>
          <a:prstGeom prst="rect">
            <a:avLst/>
          </a:prstGeom>
          <a:solidFill>
            <a:srgbClr val="F8FAFC"/>
          </a:solidFill>
          <a:ln w="254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E11D48"/>
                </a:solidFill>
              </a:rPr>
              <a:t>Presentación: </a:t>
            </a:r>
            <a:r>
              <a:rPr sz="1500">
                <a:solidFill>
                  <a:srgbClr val="1E293B"/>
                </a:solidFill>
              </a:rPr>
              <a:t>Angular 21 SPA: rutas, componentes, formularios y servicios HTTP.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72800" cy="685800"/>
          </a:xfrm>
          <a:prstGeom prst="rect">
            <a:avLst/>
          </a:prstGeom>
          <a:solidFill>
            <a:srgbClr val="F8FAFC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2563EB"/>
                </a:solidFill>
              </a:rPr>
              <a:t>Controladores: </a:t>
            </a:r>
            <a:r>
              <a:rPr sz="1500">
                <a:solidFill>
                  <a:srgbClr val="1E293B"/>
                </a:solidFill>
              </a:rPr>
              <a:t>Spring Boot REST: recibe solicitudes y responde JSON.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788920"/>
            <a:ext cx="10972800" cy="685800"/>
          </a:xfrm>
          <a:prstGeom prst="rect">
            <a:avLst/>
          </a:prstGeom>
          <a:solidFill>
            <a:srgbClr val="F8FAFC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059669"/>
                </a:solidFill>
              </a:rPr>
              <a:t>Servicios: </a:t>
            </a:r>
            <a:r>
              <a:rPr sz="1500">
                <a:solidFill>
                  <a:srgbClr val="1E293B"/>
                </a:solidFill>
              </a:rPr>
              <a:t>Reglas de negocio: stock, pedidos, ventas, totales y validaciones.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611879"/>
            <a:ext cx="10972800" cy="685800"/>
          </a:xfrm>
          <a:prstGeom prst="rect">
            <a:avLst/>
          </a:prstGeom>
          <a:solidFill>
            <a:srgbClr val="F8FAFC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7C3AED"/>
                </a:solidFill>
              </a:rPr>
              <a:t>Repositorios: </a:t>
            </a:r>
            <a:r>
              <a:rPr sz="1500">
                <a:solidFill>
                  <a:srgbClr val="1E293B"/>
                </a:solidFill>
              </a:rPr>
              <a:t>Spring Data JPA: acceso a MySQL con entidades relacionadas.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4434840"/>
            <a:ext cx="10972800" cy="685800"/>
          </a:xfrm>
          <a:prstGeom prst="rect">
            <a:avLst/>
          </a:prstGeom>
          <a:solidFill>
            <a:srgbClr val="F8FAFC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500">
                <a:solidFill>
                  <a:srgbClr val="D97706"/>
                </a:solidFill>
              </a:rPr>
              <a:t>Ventaja: </a:t>
            </a:r>
            <a:r>
              <a:rPr sz="1500">
                <a:solidFill>
                  <a:srgbClr val="1E293B"/>
                </a:solidFill>
              </a:rPr>
              <a:t>Mantenible, escalable, claro para sustentar y fácil de probar por capas.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430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Mapa de navegación</a:t>
            </a:r>
          </a:p>
          <a:p>
            <a:r>
              <a:rPr sz="1300">
                <a:solidFill>
                  <a:srgbClr val="475569"/>
                </a:solidFill>
              </a:rPr>
              <a:t>Flujo completo de pantallas, rutas y módulos del sistema</a:t>
            </a:r>
          </a:p>
        </p:txBody>
      </p:sp>
      <p:pic>
        <p:nvPicPr>
          <p:cNvPr id="3" name="Picture 2" descr="mapa_naveg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68680"/>
            <a:ext cx="11567160" cy="73609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430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Aplicación implementada</a:t>
            </a:r>
          </a:p>
          <a:p>
            <a:r>
              <a:rPr sz="1300">
                <a:solidFill>
                  <a:srgbClr val="475569"/>
                </a:solidFill>
              </a:rPr>
              <a:t>Capturas reales por cada módulo principal</a:t>
            </a:r>
          </a:p>
        </p:txBody>
      </p:sp>
      <p:pic>
        <p:nvPicPr>
          <p:cNvPr id="3" name="Picture 2" descr="login_w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5257800" cy="295606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3200400"/>
            <a:ext cx="5257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172A"/>
                </a:solidFill>
              </a:rPr>
              <a:t>Login</a:t>
            </a:r>
          </a:p>
        </p:txBody>
      </p:sp>
      <p:pic>
        <p:nvPicPr>
          <p:cNvPr id="5" name="Picture 4" descr="dashboard_w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960120"/>
            <a:ext cx="5257800" cy="29560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09360" y="3200400"/>
            <a:ext cx="5257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172A"/>
                </a:solidFill>
              </a:rPr>
              <a:t>Dashboard</a:t>
            </a:r>
          </a:p>
        </p:txBody>
      </p:sp>
      <p:pic>
        <p:nvPicPr>
          <p:cNvPr id="7" name="Picture 6" descr="productos_we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657600"/>
            <a:ext cx="5257800" cy="295606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897880"/>
            <a:ext cx="5257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172A"/>
                </a:solidFill>
              </a:rPr>
              <a:t>Productos</a:t>
            </a:r>
          </a:p>
        </p:txBody>
      </p:sp>
      <p:pic>
        <p:nvPicPr>
          <p:cNvPr id="9" name="Picture 8" descr="clientes_we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3657600"/>
            <a:ext cx="5257800" cy="295606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09360" y="5897880"/>
            <a:ext cx="5257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172A"/>
                </a:solidFill>
              </a:rPr>
              <a:t>Clientes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430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172A"/>
                </a:solidFill>
              </a:rPr>
              <a:t>Pedidos, ventas y reportes</a:t>
            </a:r>
          </a:p>
          <a:p>
            <a:r>
              <a:rPr sz="1300">
                <a:solidFill>
                  <a:srgbClr val="475569"/>
                </a:solidFill>
              </a:rPr>
              <a:t>Evidencia de los módulos operativos finales</a:t>
            </a:r>
          </a:p>
        </p:txBody>
      </p:sp>
      <p:pic>
        <p:nvPicPr>
          <p:cNvPr id="3" name="Picture 2" descr="pedidos_we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5394960" cy="30331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347472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172A"/>
                </a:solidFill>
              </a:rPr>
              <a:t>Pedidos/Ventas</a:t>
            </a:r>
          </a:p>
        </p:txBody>
      </p:sp>
      <p:pic>
        <p:nvPicPr>
          <p:cNvPr id="5" name="Picture 4" descr="reportes_we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143000"/>
            <a:ext cx="5394960" cy="3033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355080" y="3474720"/>
            <a:ext cx="53949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F172A"/>
                </a:solidFill>
              </a:rPr>
              <a:t>Reportes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